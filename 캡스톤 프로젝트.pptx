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317" r:id="rId3"/>
    <p:sldId id="318" r:id="rId4"/>
    <p:sldId id="319" r:id="rId5"/>
    <p:sldId id="32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18" autoAdjust="0"/>
  </p:normalViewPr>
  <p:slideViewPr>
    <p:cSldViewPr snapToGrid="0" snapToObjects="1">
      <p:cViewPr varScale="1">
        <p:scale>
          <a:sx n="109" d="100"/>
          <a:sy n="109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499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개 과목에서 배운 기술을 활용해서</a:t>
            </a:r>
            <a:r>
              <a:rPr lang="en-US" altLang="ko-KR" dirty="0"/>
              <a:t>, </a:t>
            </a:r>
            <a:r>
              <a:rPr lang="ko-KR" altLang="en-US" dirty="0"/>
              <a:t>각 조가 정의한 보안 문제를 해결하는 하나의 시스템을 설계하고 구현</a:t>
            </a:r>
          </a:p>
          <a:p>
            <a:r>
              <a:rPr lang="ko-KR" altLang="en-US" dirty="0"/>
              <a:t>완성형 제품 개발이 아니라</a:t>
            </a:r>
            <a:r>
              <a:rPr lang="en-US" altLang="ko-KR" dirty="0"/>
              <a:t>, </a:t>
            </a:r>
            <a:r>
              <a:rPr lang="ko-KR" altLang="en-US" dirty="0"/>
              <a:t>핵심 기능이 실제로 동작하는 통합 프로토타입 개발로 운영하는 것이 적절하고 검증하는 과정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39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93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아이디어 </a:t>
            </a:r>
            <a:r>
              <a:rPr lang="ko-KR" altLang="en-US" dirty="0" err="1"/>
              <a:t>해커톤에서</a:t>
            </a:r>
            <a:r>
              <a:rPr lang="ko-KR" altLang="en-US" dirty="0"/>
              <a:t> 만든 기획안을 그대로 전부 구현은 아님</a:t>
            </a:r>
            <a:r>
              <a:rPr lang="en-US" altLang="ko-KR" dirty="0"/>
              <a:t> </a:t>
            </a:r>
            <a:r>
              <a:rPr lang="ko-KR" altLang="en-US" dirty="0"/>
              <a:t>정해진 기간 안에 구현할 수 있도록 각 조가 스스로 범위를 조정하도록 해야 함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16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70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194560"/>
            <a:ext cx="6035040" cy="6035040"/>
          </a:xfrm>
          <a:prstGeom prst="ellipse">
            <a:avLst/>
          </a:prstGeom>
          <a:ln w="12700">
            <a:solidFill>
              <a:srgbClr val="2636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463040" y="4937760"/>
            <a:ext cx="3474720" cy="3474720"/>
          </a:xfrm>
          <a:prstGeom prst="ellipse">
            <a:avLst/>
          </a:prstGeom>
          <a:ln w="12700">
            <a:solidFill>
              <a:srgbClr val="2636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035040" y="1234440"/>
            <a:ext cx="6035040" cy="411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203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1721739" cy="384048"/>
          </a:xfrm>
          <a:prstGeom prst="roundRect">
            <a:avLst>
              <a:gd name="adj" fmla="val 50000"/>
            </a:avLst>
          </a:prstGeom>
          <a:ln w="12700">
            <a:solidFill>
              <a:srgbClr val="3A4E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7217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9D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8595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3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프로젝트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6B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 · </a:t>
            </a:r>
            <a:r>
              <a:rPr lang="en-US" altLang="ko-KR" sz="1000" b="1" kern="0" spc="250" dirty="0">
                <a:solidFill>
                  <a:srgbClr val="6B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Capstone</a:t>
            </a:r>
            <a:r>
              <a:rPr lang="en-US" sz="1000" b="1" kern="0" spc="250" dirty="0">
                <a:solidFill>
                  <a:srgbClr val="6B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2300" b="1" dirty="0" err="1">
                <a:solidFill>
                  <a:srgbClr val="1C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</a:t>
            </a:r>
            <a:r>
              <a:rPr lang="ko-KR" altLang="en-US" sz="2300" b="1" dirty="0">
                <a:solidFill>
                  <a:srgbClr val="1C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프로젝트</a:t>
            </a:r>
            <a:endParaRPr lang="en-US" sz="23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54EBE6-1641-49F2-B21E-980DEA2AE136}"/>
              </a:ext>
            </a:extLst>
          </p:cNvPr>
          <p:cNvSpPr txBox="1"/>
          <p:nvPr/>
        </p:nvSpPr>
        <p:spPr>
          <a:xfrm>
            <a:off x="594360" y="1560492"/>
            <a:ext cx="999713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아이디어 </a:t>
            </a:r>
            <a:r>
              <a:rPr lang="ko-KR" altLang="en-US" sz="1300" dirty="0" err="1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해커톤에서</a:t>
            </a: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 작성한 기획안을 바탕으로 실제 동작하는 예시 보안 시스템을 개발합니다</a:t>
            </a:r>
            <a:r>
              <a:rPr lang="en-US" altLang="ko-KR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300" dirty="0">
              <a:solidFill>
                <a:srgbClr val="2A3240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각 조는 구현할 핵심 기능을 선정하고</a:t>
            </a:r>
            <a:r>
              <a:rPr lang="en-US" altLang="ko-KR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시스템 아키텍처와 기술 스택을 설계한 후 역할을 분담하여 개발을 진행합니다</a:t>
            </a:r>
            <a:r>
              <a:rPr lang="en-US" altLang="ko-KR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300" dirty="0">
              <a:solidFill>
                <a:srgbClr val="2A3240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최종적으로 시스템을 실제 시연하고</a:t>
            </a:r>
            <a:r>
              <a:rPr lang="en-US" altLang="ko-KR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설계 내용과 구현 결과</a:t>
            </a:r>
            <a:r>
              <a:rPr lang="en-US" altLang="ko-KR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테스트 결과를 발표합니다</a:t>
            </a:r>
            <a:r>
              <a:rPr lang="en-US" altLang="ko-KR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ko-KR" altLang="en-US" sz="13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A1C841-31D3-42E7-A251-32DC0B42A86B}"/>
              </a:ext>
            </a:extLst>
          </p:cNvPr>
          <p:cNvSpPr txBox="1"/>
          <p:nvPr/>
        </p:nvSpPr>
        <p:spPr>
          <a:xfrm>
            <a:off x="594360" y="5502869"/>
            <a:ext cx="8745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/>
              <a:t>5</a:t>
            </a:r>
            <a:r>
              <a:rPr lang="ko-KR" altLang="en-US" dirty="0"/>
              <a:t>개 과목 학습  →  아이디어 </a:t>
            </a:r>
            <a:r>
              <a:rPr lang="ko-KR" altLang="en-US" dirty="0" err="1"/>
              <a:t>해커톤</a:t>
            </a:r>
            <a:r>
              <a:rPr lang="en-US" altLang="ko-KR" dirty="0"/>
              <a:t>(</a:t>
            </a:r>
            <a:r>
              <a:rPr lang="ko-KR" altLang="en-US" dirty="0"/>
              <a:t>기획</a:t>
            </a:r>
            <a:r>
              <a:rPr lang="en-US" altLang="ko-KR" dirty="0"/>
              <a:t>)  →  </a:t>
            </a:r>
            <a:r>
              <a:rPr lang="ko-KR" altLang="en-US" dirty="0" err="1"/>
              <a:t>캡스톤</a:t>
            </a:r>
            <a:r>
              <a:rPr lang="en-US" altLang="ko-KR" dirty="0"/>
              <a:t>(</a:t>
            </a:r>
            <a:r>
              <a:rPr lang="ko-KR" altLang="en-US" dirty="0"/>
              <a:t>설계</a:t>
            </a:r>
            <a:r>
              <a:rPr lang="en-US" altLang="ko-KR" dirty="0"/>
              <a:t>·</a:t>
            </a:r>
            <a:r>
              <a:rPr lang="ko-KR" altLang="en-US" dirty="0"/>
              <a:t>구현</a:t>
            </a:r>
            <a:r>
              <a:rPr lang="en-US" altLang="ko-KR" dirty="0"/>
              <a:t>·</a:t>
            </a:r>
            <a:r>
              <a:rPr lang="ko-KR" altLang="en-US" dirty="0"/>
              <a:t>검증</a:t>
            </a:r>
            <a:r>
              <a:rPr lang="en-US" altLang="ko-KR" dirty="0"/>
              <a:t>)  →  </a:t>
            </a:r>
            <a:r>
              <a:rPr lang="ko-KR" altLang="en-US" dirty="0"/>
              <a:t>최종 발표</a:t>
            </a:r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DDFD51C3-5DF8-4368-817C-7FFA08AA8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446272"/>
              </p:ext>
            </p:extLst>
          </p:nvPr>
        </p:nvGraphicFramePr>
        <p:xfrm>
          <a:off x="594360" y="3383187"/>
          <a:ext cx="7467815" cy="17373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427623">
                  <a:extLst>
                    <a:ext uri="{9D8B030D-6E8A-4147-A177-3AD203B41FA5}">
                      <a16:colId xmlns:a16="http://schemas.microsoft.com/office/drawing/2014/main" val="1731922117"/>
                    </a:ext>
                  </a:extLst>
                </a:gridCol>
                <a:gridCol w="2536954">
                  <a:extLst>
                    <a:ext uri="{9D8B030D-6E8A-4147-A177-3AD203B41FA5}">
                      <a16:colId xmlns:a16="http://schemas.microsoft.com/office/drawing/2014/main" val="504216981"/>
                    </a:ext>
                  </a:extLst>
                </a:gridCol>
                <a:gridCol w="3503238">
                  <a:extLst>
                    <a:ext uri="{9D8B030D-6E8A-4147-A177-3AD203B41FA5}">
                      <a16:colId xmlns:a16="http://schemas.microsoft.com/office/drawing/2014/main" val="2330333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아이디어 해커톤 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(2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일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캡스톤 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(7~8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일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405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핵심 질문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무엇을 만들 것인가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어떻게 실제로 만들 것인가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62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주요 활동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문제 정의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아이디어 발굴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설계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구현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통합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검증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16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결과물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프로젝트 기획안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실행 가능한 시스템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125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중요 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필요성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창의성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차별성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기능 동작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기술 연계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완성도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977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최종 평가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아이디어의 타당성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실제 동작과 검증 결과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04123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D6C9263A-1202-45F3-8A1A-AE878E40A137}"/>
              </a:ext>
            </a:extLst>
          </p:cNvPr>
          <p:cNvSpPr txBox="1"/>
          <p:nvPr/>
        </p:nvSpPr>
        <p:spPr>
          <a:xfrm>
            <a:off x="594360" y="2986735"/>
            <a:ext cx="999713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300" dirty="0" err="1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캡스톤</a:t>
            </a: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 아이디어 구체화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765983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621792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2300" b="1" dirty="0" err="1">
                <a:solidFill>
                  <a:srgbClr val="1C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</a:t>
            </a:r>
            <a:r>
              <a:rPr lang="ko-KR" altLang="en-US" sz="2300" b="1" dirty="0">
                <a:solidFill>
                  <a:srgbClr val="1C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프로젝트</a:t>
            </a:r>
            <a:endParaRPr lang="en-US" sz="2300" dirty="0"/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B06BE650-045E-464D-AC67-82FC4CFD6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714636"/>
              </p:ext>
            </p:extLst>
          </p:nvPr>
        </p:nvGraphicFramePr>
        <p:xfrm>
          <a:off x="594360" y="4244338"/>
          <a:ext cx="6355080" cy="17373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89116">
                  <a:extLst>
                    <a:ext uri="{9D8B030D-6E8A-4147-A177-3AD203B41FA5}">
                      <a16:colId xmlns:a16="http://schemas.microsoft.com/office/drawing/2014/main" val="2788715667"/>
                    </a:ext>
                  </a:extLst>
                </a:gridCol>
                <a:gridCol w="4765964">
                  <a:extLst>
                    <a:ext uri="{9D8B030D-6E8A-4147-A177-3AD203B41FA5}">
                      <a16:colId xmlns:a16="http://schemas.microsoft.com/office/drawing/2014/main" val="3639894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</a:rPr>
                        <a:t>프로젝트 완성 기준</a:t>
                      </a:r>
                      <a:endParaRPr lang="ko-KR" altLang="en-US" sz="1300" kern="1200" dirty="0">
                        <a:solidFill>
                          <a:srgbClr val="2A3240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</a:rPr>
                        <a:t>확인 기준</a:t>
                      </a:r>
                      <a:endParaRPr lang="ko-KR" altLang="en-US" sz="1300" kern="1200" dirty="0">
                        <a:solidFill>
                          <a:srgbClr val="2A3240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89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</a:rPr>
                        <a:t>기획 및 설계</a:t>
                      </a:r>
                      <a:endParaRPr lang="ko-KR" altLang="en-US" sz="1300" kern="1200" dirty="0">
                        <a:solidFill>
                          <a:srgbClr val="2A3240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</a:rPr>
                        <a:t>요구사항과 시스템 구조가 명확한가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</a:rPr>
                        <a:t>?</a:t>
                      </a:r>
                      <a:endParaRPr lang="en-US" altLang="ko-KR" sz="1300" kern="1200">
                        <a:solidFill>
                          <a:srgbClr val="2A3240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30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</a:rPr>
                        <a:t>기능 구현</a:t>
                      </a:r>
                      <a:endParaRPr lang="ko-KR" altLang="en-US" sz="1300" kern="1200" dirty="0">
                        <a:solidFill>
                          <a:srgbClr val="2A3240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</a:rPr>
                        <a:t>핵심 기능이 실제로 동작하는가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</a:rPr>
                        <a:t>?</a:t>
                      </a:r>
                      <a:endParaRPr lang="en-US" altLang="ko-KR" sz="1300" kern="1200">
                        <a:solidFill>
                          <a:srgbClr val="2A3240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792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</a:rPr>
                        <a:t>교육과정 연계</a:t>
                      </a:r>
                      <a:endParaRPr lang="ko-KR" altLang="en-US" sz="1300" kern="1200">
                        <a:solidFill>
                          <a:srgbClr val="2A3240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300" kern="1200">
                          <a:solidFill>
                            <a:srgbClr val="2A3240"/>
                          </a:solidFill>
                        </a:rPr>
                        <a:t>AI·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</a:rPr>
                        <a:t>보안관제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</a:rPr>
                        <a:t>·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</a:rPr>
                        <a:t>자동화 기술을 활용했는가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</a:rPr>
                        <a:t>?</a:t>
                      </a:r>
                      <a:endParaRPr lang="en-US" altLang="ko-KR" sz="1300" kern="1200">
                        <a:solidFill>
                          <a:srgbClr val="2A3240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2302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</a:rPr>
                        <a:t>테스트</a:t>
                      </a:r>
                      <a:endParaRPr lang="ko-KR" altLang="en-US" sz="1300" kern="1200">
                        <a:solidFill>
                          <a:srgbClr val="2A3240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</a:rPr>
                        <a:t>정상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</a:rPr>
                        <a:t>이상 상황을 검증했는가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</a:rPr>
                        <a:t>?</a:t>
                      </a:r>
                      <a:endParaRPr lang="en-US" altLang="ko-KR" sz="1300" kern="1200" dirty="0">
                        <a:solidFill>
                          <a:srgbClr val="2A3240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384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</a:rPr>
                        <a:t>최종 발표</a:t>
                      </a:r>
                      <a:endParaRPr lang="ko-KR" altLang="en-US" sz="1300" kern="1200">
                        <a:solidFill>
                          <a:srgbClr val="2A3240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</a:rPr>
                        <a:t>구현 내용과 결과를 설명할 수 있는가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</a:rPr>
                        <a:t>?</a:t>
                      </a:r>
                      <a:endParaRPr lang="en-US" altLang="ko-KR" sz="1300" kern="1200" dirty="0">
                        <a:solidFill>
                          <a:srgbClr val="2A3240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2734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DCD3AE-5CA1-47C7-8518-4DB1199361D9}"/>
              </a:ext>
            </a:extLst>
          </p:cNvPr>
          <p:cNvSpPr txBox="1"/>
          <p:nvPr/>
        </p:nvSpPr>
        <p:spPr>
          <a:xfrm>
            <a:off x="594360" y="1393066"/>
            <a:ext cx="999713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진행 일정</a:t>
            </a:r>
            <a:endParaRPr lang="ko-KR" altLang="en-US" sz="13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78F647F-A0C4-413F-A003-4FAC14F48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775523"/>
              </p:ext>
            </p:extLst>
          </p:nvPr>
        </p:nvGraphicFramePr>
        <p:xfrm>
          <a:off x="594360" y="1788269"/>
          <a:ext cx="7622361" cy="17373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2322">
                  <a:extLst>
                    <a:ext uri="{9D8B030D-6E8A-4147-A177-3AD203B41FA5}">
                      <a16:colId xmlns:a16="http://schemas.microsoft.com/office/drawing/2014/main" val="2254204499"/>
                    </a:ext>
                  </a:extLst>
                </a:gridCol>
                <a:gridCol w="1184856">
                  <a:extLst>
                    <a:ext uri="{9D8B030D-6E8A-4147-A177-3AD203B41FA5}">
                      <a16:colId xmlns:a16="http://schemas.microsoft.com/office/drawing/2014/main" val="2388002036"/>
                    </a:ext>
                  </a:extLst>
                </a:gridCol>
                <a:gridCol w="4765183">
                  <a:extLst>
                    <a:ext uri="{9D8B030D-6E8A-4147-A177-3AD203B41FA5}">
                      <a16:colId xmlns:a16="http://schemas.microsoft.com/office/drawing/2014/main" val="3138526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수강생이 할 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433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요구사항 확정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해커톤 기획안에서 실제 구현할 기능 선정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74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시스템 설계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아키텍처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기술 스택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데이터 흐름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역할 분담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269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개발 및 통합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조별로 기능 개발하고 하나의 시스템으로 통합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280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테스트 및 개선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정상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이상 시나리오 테스트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오류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4926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최종 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+mn-lt"/>
                          <a:ea typeface="+mn-ea"/>
                          <a:cs typeface="+mn-cs"/>
                        </a:rPr>
                        <a:t>실제 시스템 시연 및 결과 발표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85326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1395C4F-9E42-417E-BD74-EE930A8FDE33}"/>
              </a:ext>
            </a:extLst>
          </p:cNvPr>
          <p:cNvSpPr txBox="1"/>
          <p:nvPr/>
        </p:nvSpPr>
        <p:spPr>
          <a:xfrm>
            <a:off x="594359" y="3809145"/>
            <a:ext cx="999713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평가 항목</a:t>
            </a:r>
            <a:endParaRPr lang="ko-KR" altLang="en-US" sz="13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DF0A1742-DFB8-4447-B400-D154CD9D5F6F}"/>
              </a:ext>
            </a:extLst>
          </p:cNvPr>
          <p:cNvSpPr/>
          <p:nvPr/>
        </p:nvSpPr>
        <p:spPr>
          <a:xfrm>
            <a:off x="5943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6B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 · </a:t>
            </a:r>
            <a:r>
              <a:rPr lang="en-US" altLang="ko-KR" sz="1000" b="1" kern="0" spc="250" dirty="0">
                <a:solidFill>
                  <a:srgbClr val="6B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Capstone</a:t>
            </a:r>
            <a:r>
              <a:rPr lang="en-US" sz="1000" b="1" kern="0" spc="250" dirty="0">
                <a:solidFill>
                  <a:srgbClr val="6B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Project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2628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621792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2300" b="1" dirty="0" err="1">
                <a:solidFill>
                  <a:srgbClr val="1C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</a:t>
            </a:r>
            <a:r>
              <a:rPr lang="ko-KR" altLang="en-US" sz="2300" b="1" dirty="0">
                <a:solidFill>
                  <a:srgbClr val="1C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프로젝트</a:t>
            </a:r>
            <a:endParaRPr lang="en-US" sz="23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07812E-8FE7-488E-B011-3CF1AE3CCDE5}"/>
              </a:ext>
            </a:extLst>
          </p:cNvPr>
          <p:cNvSpPr txBox="1"/>
          <p:nvPr/>
        </p:nvSpPr>
        <p:spPr>
          <a:xfrm>
            <a:off x="594360" y="2842492"/>
            <a:ext cx="982464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각 조의 프로젝트 비교</a:t>
            </a:r>
            <a:endParaRPr lang="ko-KR" altLang="en-US" sz="1300" dirty="0"/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A2418CDD-2483-4F4D-8879-BCE75B719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504769"/>
              </p:ext>
            </p:extLst>
          </p:nvPr>
        </p:nvGraphicFramePr>
        <p:xfrm>
          <a:off x="594359" y="3250504"/>
          <a:ext cx="9824648" cy="215426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680649">
                  <a:extLst>
                    <a:ext uri="{9D8B030D-6E8A-4147-A177-3AD203B41FA5}">
                      <a16:colId xmlns:a16="http://schemas.microsoft.com/office/drawing/2014/main" val="1281037560"/>
                    </a:ext>
                  </a:extLst>
                </a:gridCol>
                <a:gridCol w="3541691">
                  <a:extLst>
                    <a:ext uri="{9D8B030D-6E8A-4147-A177-3AD203B41FA5}">
                      <a16:colId xmlns:a16="http://schemas.microsoft.com/office/drawing/2014/main" val="2370223528"/>
                    </a:ext>
                  </a:extLst>
                </a:gridCol>
                <a:gridCol w="5602308">
                  <a:extLst>
                    <a:ext uri="{9D8B030D-6E8A-4147-A177-3AD203B41FA5}">
                      <a16:colId xmlns:a16="http://schemas.microsoft.com/office/drawing/2014/main" val="1933497907"/>
                    </a:ext>
                  </a:extLst>
                </a:gridCol>
              </a:tblGrid>
              <a:tr h="35904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조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프로젝트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핵심 내용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051573791"/>
                  </a:ext>
                </a:extLst>
              </a:tr>
              <a:tr h="359044">
                <a:tc>
                  <a:txBody>
                    <a:bodyPr/>
                    <a:lstStyle/>
                    <a:p>
                      <a:pPr algn="ctr"/>
                      <a:r>
                        <a:rPr 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A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조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센트라 프로젝트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중소기업용 방화벽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권한 관리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이상 탐지 통합 시스템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4170243459"/>
                  </a:ext>
                </a:extLst>
              </a:tr>
              <a:tr h="359044">
                <a:tc>
                  <a:txBody>
                    <a:bodyPr/>
                    <a:lstStyle/>
                    <a:p>
                      <a:pPr algn="ctr"/>
                      <a:r>
                        <a:rPr 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B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조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AI 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기반 레거시 시스템 권한 관리 자동화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퇴사자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인사이동자의 계정 권한을 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AI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로 자동 회수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619924265"/>
                  </a:ext>
                </a:extLst>
              </a:tr>
              <a:tr h="359044">
                <a:tc>
                  <a:txBody>
                    <a:bodyPr/>
                    <a:lstStyle/>
                    <a:p>
                      <a:pPr algn="ctr"/>
                      <a:r>
                        <a:rPr 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C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조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스미싱 분석 및 대응 안내 시스템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의심 문자와 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URL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을 분석해 위험성과 대응 방법 안내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174452971"/>
                  </a:ext>
                </a:extLst>
              </a:tr>
              <a:tr h="359044">
                <a:tc>
                  <a:txBody>
                    <a:bodyPr/>
                    <a:lstStyle/>
                    <a:p>
                      <a:pPr algn="ctr"/>
                      <a:r>
                        <a:rPr 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D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조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T-CELL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의심 공격을 격리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관찰하고 새로운 방어 규칙을 생성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검증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적용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967451148"/>
                  </a:ext>
                </a:extLst>
              </a:tr>
              <a:tr h="359044">
                <a:tc>
                  <a:txBody>
                    <a:bodyPr/>
                    <a:lstStyle/>
                    <a:p>
                      <a:pPr algn="ctr"/>
                      <a:r>
                        <a:rPr 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E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조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법무법인 사칭 사이트 탐지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차단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가짜 로펌 사이트를 분석해 위험 경고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접속 차단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보고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244465070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B07CE362-A9CD-4589-BC7C-07719DCE7279}"/>
              </a:ext>
            </a:extLst>
          </p:cNvPr>
          <p:cNvSpPr txBox="1"/>
          <p:nvPr/>
        </p:nvSpPr>
        <p:spPr>
          <a:xfrm>
            <a:off x="594360" y="5731339"/>
            <a:ext cx="999713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완성형 제품 개발이 아니라</a:t>
            </a:r>
            <a:r>
              <a:rPr lang="en-US" altLang="ko-KR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핵심 기능이 실제로 동작하는 통합 프로토타입 개발로 운영하는 </a:t>
            </a:r>
            <a:r>
              <a:rPr lang="ko-KR" altLang="en-US" sz="1300" dirty="0"/>
              <a:t>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CB65B-97BA-49CB-A8D0-37E941E993D0}"/>
              </a:ext>
            </a:extLst>
          </p:cNvPr>
          <p:cNvSpPr txBox="1"/>
          <p:nvPr/>
        </p:nvSpPr>
        <p:spPr>
          <a:xfrm>
            <a:off x="594358" y="1255897"/>
            <a:ext cx="9997135" cy="1235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300" dirty="0"/>
              <a:t>보안관제</a:t>
            </a:r>
            <a:r>
              <a:rPr lang="en-US" altLang="ko-KR" sz="1300" dirty="0"/>
              <a:t>: </a:t>
            </a:r>
            <a:r>
              <a:rPr lang="ko-KR" altLang="en-US" sz="1300" dirty="0"/>
              <a:t>보안 이벤트를 수집</a:t>
            </a:r>
            <a:r>
              <a:rPr lang="en-US" altLang="ko-KR" sz="1300" dirty="0"/>
              <a:t>·</a:t>
            </a:r>
            <a:r>
              <a:rPr lang="ko-KR" altLang="en-US" sz="1300" dirty="0"/>
              <a:t>탐지</a:t>
            </a:r>
            <a:r>
              <a:rPr lang="en-US" altLang="ko-KR" sz="1300" dirty="0"/>
              <a:t>·</a:t>
            </a:r>
            <a:r>
              <a:rPr lang="ko-KR" altLang="en-US" sz="1300" dirty="0"/>
              <a:t>분석하는가</a:t>
            </a:r>
            <a:r>
              <a:rPr lang="en-US" altLang="ko-KR" sz="1300" dirty="0"/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300" dirty="0"/>
              <a:t>AI </a:t>
            </a:r>
            <a:r>
              <a:rPr lang="ko-KR" altLang="en-US" sz="1300" dirty="0"/>
              <a:t>활용</a:t>
            </a:r>
            <a:r>
              <a:rPr lang="en-US" altLang="ko-KR" sz="1300" dirty="0"/>
              <a:t>: AI</a:t>
            </a:r>
            <a:r>
              <a:rPr lang="ko-KR" altLang="en-US" sz="1300" dirty="0"/>
              <a:t>가 단순 설명을 넘어 분석이나 판단을 지원하는가</a:t>
            </a:r>
            <a:r>
              <a:rPr lang="en-US" altLang="ko-KR" sz="1300" dirty="0"/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300" dirty="0"/>
              <a:t>자동화</a:t>
            </a:r>
            <a:r>
              <a:rPr lang="en-US" altLang="ko-KR" sz="1300" dirty="0"/>
              <a:t>: </a:t>
            </a:r>
            <a:r>
              <a:rPr lang="ko-KR" altLang="en-US" sz="1300" dirty="0"/>
              <a:t>탐지 결과가 대응</a:t>
            </a:r>
            <a:r>
              <a:rPr lang="en-US" altLang="ko-KR" sz="1300" dirty="0"/>
              <a:t>·</a:t>
            </a:r>
            <a:r>
              <a:rPr lang="ko-KR" altLang="en-US" sz="1300" dirty="0"/>
              <a:t>알림</a:t>
            </a:r>
            <a:r>
              <a:rPr lang="en-US" altLang="ko-KR" sz="1300" dirty="0"/>
              <a:t>·</a:t>
            </a:r>
            <a:r>
              <a:rPr lang="ko-KR" altLang="en-US" sz="1300" dirty="0"/>
              <a:t>보고 등의 후속 작업으로 연결되는가</a:t>
            </a:r>
            <a:r>
              <a:rPr lang="en-US" altLang="ko-KR" sz="1300" dirty="0"/>
              <a:t>?</a:t>
            </a:r>
            <a:endParaRPr lang="ko-KR" altLang="en-US" sz="13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E186E099-78B7-4413-9B6A-DBD21BC8FD1E}"/>
              </a:ext>
            </a:extLst>
          </p:cNvPr>
          <p:cNvSpPr/>
          <p:nvPr/>
        </p:nvSpPr>
        <p:spPr>
          <a:xfrm>
            <a:off x="5943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6B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 · </a:t>
            </a:r>
            <a:r>
              <a:rPr lang="en-US" altLang="ko-KR" sz="1000" b="1" kern="0" spc="250" dirty="0">
                <a:solidFill>
                  <a:srgbClr val="6B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Capstone</a:t>
            </a:r>
            <a:r>
              <a:rPr lang="en-US" sz="1000" b="1" kern="0" spc="250" dirty="0">
                <a:solidFill>
                  <a:srgbClr val="6B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Project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9663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621792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2300" b="1" dirty="0" err="1">
                <a:solidFill>
                  <a:srgbClr val="1C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</a:t>
            </a:r>
            <a:r>
              <a:rPr lang="ko-KR" altLang="en-US" sz="2300" b="1" dirty="0">
                <a:solidFill>
                  <a:srgbClr val="1C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프로젝트</a:t>
            </a:r>
            <a:endParaRPr lang="en-US" sz="23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07812E-8FE7-488E-B011-3CF1AE3CCDE5}"/>
              </a:ext>
            </a:extLst>
          </p:cNvPr>
          <p:cNvSpPr txBox="1"/>
          <p:nvPr/>
        </p:nvSpPr>
        <p:spPr>
          <a:xfrm>
            <a:off x="594359" y="1366388"/>
            <a:ext cx="9997135" cy="2429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300" dirty="0" err="1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캡스톤</a:t>
            </a: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 최종 제출물</a:t>
            </a:r>
            <a:endParaRPr lang="en-US" altLang="ko-KR" sz="1300" dirty="0">
              <a:solidFill>
                <a:srgbClr val="2A3240"/>
              </a:solidFill>
              <a:latin typeface="Malgun Gothic" pitchFamily="34" charset="0"/>
              <a:ea typeface="Malgun Gothic" pitchFamily="34" charset="-122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 프로젝트 요구사항 및 시스템 설계서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 최종 소스코드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 프로그램 실행 방법</a:t>
            </a:r>
            <a:r>
              <a:rPr lang="en-US" altLang="ko-KR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(README)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 테스트 시나리오 및 결과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 최종 발표 자료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176FC4-D80D-4712-B1F1-9527AA41D368}"/>
              </a:ext>
            </a:extLst>
          </p:cNvPr>
          <p:cNvSpPr txBox="1"/>
          <p:nvPr/>
        </p:nvSpPr>
        <p:spPr>
          <a:xfrm>
            <a:off x="594359" y="3914518"/>
            <a:ext cx="4454436" cy="428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300" dirty="0">
                <a:solidFill>
                  <a:srgbClr val="2A3240"/>
                </a:solidFill>
                <a:latin typeface="Malgun Gothic" pitchFamily="34" charset="0"/>
                <a:ea typeface="Malgun Gothic" pitchFamily="34" charset="-122"/>
              </a:rPr>
              <a:t>추후 일정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90BC6E4-0EC8-44B8-84A2-0F6562FD4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803926"/>
              </p:ext>
            </p:extLst>
          </p:nvPr>
        </p:nvGraphicFramePr>
        <p:xfrm>
          <a:off x="594360" y="4453377"/>
          <a:ext cx="10515600" cy="20269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92977">
                  <a:extLst>
                    <a:ext uri="{9D8B030D-6E8A-4147-A177-3AD203B41FA5}">
                      <a16:colId xmlns:a16="http://schemas.microsoft.com/office/drawing/2014/main" val="4243706833"/>
                    </a:ext>
                  </a:extLst>
                </a:gridCol>
                <a:gridCol w="3801292">
                  <a:extLst>
                    <a:ext uri="{9D8B030D-6E8A-4147-A177-3AD203B41FA5}">
                      <a16:colId xmlns:a16="http://schemas.microsoft.com/office/drawing/2014/main" val="535768259"/>
                    </a:ext>
                  </a:extLst>
                </a:gridCol>
                <a:gridCol w="4121331">
                  <a:extLst>
                    <a:ext uri="{9D8B030D-6E8A-4147-A177-3AD203B41FA5}">
                      <a16:colId xmlns:a16="http://schemas.microsoft.com/office/drawing/2014/main" val="108327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일정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주요 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615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10.22(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목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) ~ 11.04(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수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캡스톤 프로젝트 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조별 프로젝트 설계 및 개발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506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10.26(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월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) ~ 10.28(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수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현직자 특강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캡스톤 기간 중 진행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854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11.05(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목</a:t>
                      </a:r>
                      <a:r>
                        <a:rPr lang="en-US" altLang="ko-KR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 err="1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캡스톤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 프로젝트 최종 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조별 결과물 발표 및 시연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7647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11.05(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목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) ~ 11.09(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월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포트폴리오 작성 및 자유시간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프로젝트 결과물 정리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945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11.09(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월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) ~ 11.11(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수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자기소개서 작성 및 모의 면접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 err="1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양두수</a:t>
                      </a:r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 강사님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890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11.11(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수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) ~ 11.12(</a:t>
                      </a:r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목</a:t>
                      </a:r>
                      <a:r>
                        <a:rPr lang="en-US" altLang="ko-KR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수료식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rgbClr val="2A3240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교육과정 마무리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710815"/>
                  </a:ext>
                </a:extLst>
              </a:tr>
            </a:tbl>
          </a:graphicData>
        </a:graphic>
      </p:graphicFrame>
      <p:sp>
        <p:nvSpPr>
          <p:cNvPr id="11" name="Text 0">
            <a:extLst>
              <a:ext uri="{FF2B5EF4-FFF2-40B4-BE49-F238E27FC236}">
                <a16:creationId xmlns:a16="http://schemas.microsoft.com/office/drawing/2014/main" id="{437159CD-2681-431A-AAB5-5E483EAE1AA6}"/>
              </a:ext>
            </a:extLst>
          </p:cNvPr>
          <p:cNvSpPr/>
          <p:nvPr/>
        </p:nvSpPr>
        <p:spPr>
          <a:xfrm>
            <a:off x="5943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6B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 · </a:t>
            </a:r>
            <a:r>
              <a:rPr lang="en-US" altLang="ko-KR" sz="1000" b="1" kern="0" spc="250" dirty="0">
                <a:solidFill>
                  <a:srgbClr val="6B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Capstone</a:t>
            </a:r>
            <a:r>
              <a:rPr lang="en-US" sz="1000" b="1" kern="0" spc="250" dirty="0">
                <a:solidFill>
                  <a:srgbClr val="6B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Project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5187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616</Words>
  <Application>Microsoft Office PowerPoint</Application>
  <PresentationFormat>와이드스크린</PresentationFormat>
  <Paragraphs>127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29</cp:revision>
  <dcterms:created xsi:type="dcterms:W3CDTF">2026-07-16T13:55:24Z</dcterms:created>
  <dcterms:modified xsi:type="dcterms:W3CDTF">2026-10-22T01:08:05Z</dcterms:modified>
</cp:coreProperties>
</file>